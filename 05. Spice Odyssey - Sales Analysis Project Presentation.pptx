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0" r:id="rId3"/>
    <p:sldId id="281" r:id="rId4"/>
    <p:sldId id="276" r:id="rId5"/>
    <p:sldId id="260" r:id="rId6"/>
    <p:sldId id="287" r:id="rId7"/>
    <p:sldId id="278" r:id="rId8"/>
    <p:sldId id="279" r:id="rId9"/>
    <p:sldId id="262" r:id="rId10"/>
    <p:sldId id="273" r:id="rId11"/>
    <p:sldId id="28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D1AD1-5408-3924-9E82-E0BB72F0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AC6D5-7547-85A9-8E32-CC00183DE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02EF2-592C-DC65-CAAA-8AFDDA1AF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9FAE1-F0F9-D2F2-EC53-AC69F07BC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12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61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17007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Spice Odyssey Sales Performance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6A398-D65D-B3E5-9070-A8CA3396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199EC-E2BC-3F53-0638-8618F637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3B8E6-EDC8-CCB1-DC20-A9A52B800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Analyze and interpret </a:t>
            </a:r>
            <a:r>
              <a:rPr lang="en-US" sz="1500" b="1" dirty="0"/>
              <a:t>Spice Odyssey Sales data</a:t>
            </a:r>
            <a:r>
              <a:rPr lang="en-US" sz="1500" dirty="0"/>
              <a:t> to uncover actionable insights that drive </a:t>
            </a:r>
            <a:r>
              <a:rPr lang="en-US" sz="1500" b="1" dirty="0"/>
              <a:t>customer engagement, menu &amp; product optimization, targeted marketing, inventory &amp; operational planning.</a:t>
            </a:r>
            <a:br>
              <a:rPr lang="en-US" sz="1500" b="1" dirty="0"/>
            </a:br>
            <a:br>
              <a:rPr lang="en-US" sz="1500" b="1" dirty="0"/>
            </a:b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To analyze restaurant sales data and uncover </a:t>
            </a:r>
            <a:r>
              <a:rPr lang="en-US" sz="1500" b="1" dirty="0"/>
              <a:t>ordering patterns, customer preferences, and revenue drivers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To support </a:t>
            </a:r>
            <a:r>
              <a:rPr lang="en-US" sz="1500" b="1" dirty="0"/>
              <a:t>data-driven decisions</a:t>
            </a:r>
            <a:r>
              <a:rPr lang="en-US" sz="1500" dirty="0"/>
              <a:t> for menu optimization, pricing strategy, and operational planning.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Orders: </a:t>
            </a:r>
            <a:r>
              <a:rPr lang="en-US" sz="1500" dirty="0"/>
              <a:t>5K</a:t>
            </a:r>
          </a:p>
          <a:p>
            <a:pPr lvl="1"/>
            <a:r>
              <a:rPr lang="en-US" sz="1500" b="1" dirty="0"/>
              <a:t>Total Sales:  </a:t>
            </a:r>
            <a:r>
              <a:rPr lang="en-US" sz="1500" dirty="0"/>
              <a:t>~160K</a:t>
            </a:r>
          </a:p>
          <a:p>
            <a:pPr lvl="1"/>
            <a:r>
              <a:rPr lang="en-US" sz="1500" b="1" dirty="0"/>
              <a:t>Average Price: </a:t>
            </a:r>
            <a:r>
              <a:rPr lang="en-US" sz="1500" dirty="0"/>
              <a:t>~13.16</a:t>
            </a:r>
          </a:p>
          <a:p>
            <a:pPr lvl="1"/>
            <a:r>
              <a:rPr lang="en-US" sz="1500" b="1" dirty="0"/>
              <a:t>Average Order Value (AOV): </a:t>
            </a:r>
            <a:r>
              <a:rPr lang="en-US" sz="1500" dirty="0"/>
              <a:t>~29.27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</a:t>
            </a:r>
            <a:r>
              <a:rPr lang="en-US" sz="1500" b="1" dirty="0"/>
              <a:t>Power BI dashboard</a:t>
            </a:r>
            <a:endParaRPr lang="en-US" sz="1500" dirty="0"/>
          </a:p>
          <a:p>
            <a:pPr lvl="1"/>
            <a:r>
              <a:rPr lang="en-US" sz="1500" dirty="0"/>
              <a:t>Actionable </a:t>
            </a:r>
            <a:r>
              <a:rPr lang="en-US" sz="1500" b="1" dirty="0"/>
              <a:t>business insights</a:t>
            </a:r>
            <a:endParaRPr lang="en-US" sz="1500" dirty="0"/>
          </a:p>
          <a:p>
            <a:pPr lvl="1"/>
            <a:r>
              <a:rPr lang="en-US" sz="1500" dirty="0"/>
              <a:t>Strategic </a:t>
            </a:r>
            <a:r>
              <a:rPr lang="en-US" sz="1500" b="1" dirty="0"/>
              <a:t>recommendations for menu &amp; operations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7901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7152-A1B7-CE90-04EE-620485BE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40946-3428-2B8C-43D9-4F9CC638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036-ACFD-1AD7-4DEB-404B3BBE7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0783"/>
            <a:ext cx="12192000" cy="51572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marL="0" indent="0">
              <a:buNone/>
            </a:pPr>
            <a:r>
              <a:rPr lang="en-US" altLang="en-US" sz="1500" dirty="0"/>
              <a:t>This project analyzes sales data for </a:t>
            </a:r>
            <a:r>
              <a:rPr lang="en-US" altLang="en-US" sz="1500" b="1" dirty="0"/>
              <a:t>Spice Odyssey</a:t>
            </a:r>
            <a:r>
              <a:rPr lang="en-US" altLang="en-US" sz="1500" dirty="0"/>
              <a:t>, a multi-cuisine restaurant brand, to provide a holistic view of business performance and customer behavior.</a:t>
            </a:r>
            <a:endParaRPr lang="en-US" sz="1500" b="1" dirty="0"/>
          </a:p>
          <a:p>
            <a:pPr marL="0" indent="0">
              <a:buNone/>
            </a:pPr>
            <a:r>
              <a:rPr lang="en-US" sz="1500" dirty="0"/>
              <a:t>The analysis helps Spice Odyssey’s </a:t>
            </a:r>
            <a:r>
              <a:rPr lang="en-US" sz="1500" b="1" dirty="0"/>
              <a:t>marketing and product teams</a:t>
            </a:r>
            <a:r>
              <a:rPr lang="en-US" sz="1500" dirty="0"/>
              <a:t> understand:</a:t>
            </a:r>
          </a:p>
          <a:p>
            <a:pPr lvl="1"/>
            <a:r>
              <a:rPr lang="en-US" altLang="en-US" sz="1500" dirty="0"/>
              <a:t>The restaurant operates across </a:t>
            </a:r>
            <a:r>
              <a:rPr lang="en-US" altLang="en-US" sz="1500" b="1" dirty="0"/>
              <a:t>multiple cuisine categories</a:t>
            </a:r>
            <a:r>
              <a:rPr lang="en-US" altLang="en-US" sz="1500" dirty="0"/>
              <a:t> — </a:t>
            </a:r>
            <a:r>
              <a:rPr lang="en-US" altLang="en-US" sz="1500" b="1" dirty="0"/>
              <a:t>Asian, Mexican, Italian, and American.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 dirty="0"/>
              <a:t>Sales performance varies by </a:t>
            </a:r>
            <a:r>
              <a:rPr lang="en-US" sz="1500" b="1" dirty="0"/>
              <a:t>weekday, meal type, and time of day</a:t>
            </a:r>
            <a:r>
              <a:rPr lang="en-US" sz="1500" dirty="0"/>
              <a:t>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Stakeholders lacked a </a:t>
            </a:r>
            <a:r>
              <a:rPr lang="en-US" altLang="en-US" sz="1500" b="1" dirty="0"/>
              <a:t>centralized analytics solution</a:t>
            </a:r>
            <a:r>
              <a:rPr lang="en-US" altLang="en-US" sz="1500" dirty="0"/>
              <a:t> to: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Monitor overall performance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Identify demand patterns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Uncover revenue and growth opportunities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This analysis consolidates raw transactional data into a </a:t>
            </a:r>
            <a:r>
              <a:rPr lang="en-US" altLang="en-US" sz="1500" b="1" dirty="0"/>
              <a:t>single, interactive Power BI dashboard</a:t>
            </a:r>
            <a:r>
              <a:rPr lang="en-US" altLang="en-US" sz="1500" dirty="0"/>
              <a:t>, enabling faster insights and more informed strategic decisions.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243114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CBA7-B2EC-113A-63CA-08AC4CE3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6269-369E-FA03-9818-12C6476A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BA16E-7E4C-F05D-43DC-96B4E227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 </a:t>
            </a:r>
            <a:r>
              <a:rPr lang="en-US" altLang="en-US" sz="1500" dirty="0"/>
              <a:t>Internal restaurant transactional sales dataset (simulated business data for analytics use case)</a:t>
            </a:r>
            <a:endParaRPr lang="en-US" sz="1500" dirty="0"/>
          </a:p>
          <a:p>
            <a:pPr lvl="1"/>
            <a:r>
              <a:rPr lang="en-US" sz="1500" b="1" dirty="0"/>
              <a:t>Data Type: </a:t>
            </a:r>
            <a:r>
              <a:rPr lang="en-US" altLang="en-US" sz="1500" dirty="0"/>
              <a:t>Structured, row-level order transaction data</a:t>
            </a:r>
            <a:endParaRPr lang="en-US" sz="1500" dirty="0"/>
          </a:p>
          <a:p>
            <a:pPr lvl="1"/>
            <a:r>
              <a:rPr lang="en-US" sz="1500" b="1" dirty="0"/>
              <a:t>Time Period: </a:t>
            </a:r>
            <a:r>
              <a:rPr lang="en-US" altLang="en-US" sz="1500" dirty="0"/>
              <a:t>January 2023 – December 2023</a:t>
            </a:r>
            <a:endParaRPr lang="en-US" sz="1500" b="1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Types: </a:t>
            </a:r>
            <a:r>
              <a:rPr lang="en-US" sz="1500" dirty="0"/>
              <a:t>Order ID, Order Date, Order Hour, Weekday Order Number, Item Name</a:t>
            </a:r>
          </a:p>
          <a:p>
            <a:pPr lvl="1"/>
            <a:r>
              <a:rPr lang="en-US" sz="1500" b="1" dirty="0"/>
              <a:t>Total Rows: </a:t>
            </a:r>
            <a:r>
              <a:rPr lang="en-US" sz="1500" dirty="0"/>
              <a:t>~5,000 order-level records</a:t>
            </a:r>
          </a:p>
          <a:p>
            <a:pPr lvl="1"/>
            <a:r>
              <a:rPr lang="en-US" sz="1500" b="1" dirty="0"/>
              <a:t>Categories:</a:t>
            </a:r>
            <a:endParaRPr lang="en-US" sz="1500" dirty="0"/>
          </a:p>
          <a:p>
            <a:pPr lvl="2"/>
            <a:r>
              <a:rPr lang="en-US" sz="1500" b="1" dirty="0"/>
              <a:t>Cuisine Category:</a:t>
            </a:r>
            <a:r>
              <a:rPr lang="en-US" sz="1500" dirty="0"/>
              <a:t> Asian, Mexican, Italian, American</a:t>
            </a:r>
          </a:p>
          <a:p>
            <a:pPr lvl="2"/>
            <a:r>
              <a:rPr lang="en-US" sz="1500" b="1" dirty="0"/>
              <a:t>Meal Type:</a:t>
            </a:r>
            <a:r>
              <a:rPr lang="en-US" sz="1500" dirty="0"/>
              <a:t> Breakfast, Lunch, Dinner, Late Night</a:t>
            </a:r>
          </a:p>
          <a:p>
            <a:pPr lvl="2"/>
            <a:r>
              <a:rPr lang="en-US" sz="1500" b="1" dirty="0"/>
              <a:t>Time Dimensions:</a:t>
            </a:r>
            <a:r>
              <a:rPr lang="en-US" sz="1500" dirty="0"/>
              <a:t> Month, Weekday, Hour</a:t>
            </a:r>
          </a:p>
          <a:p>
            <a:pPr lvl="1"/>
            <a:r>
              <a:rPr lang="en-US" sz="1500" b="1" dirty="0"/>
              <a:t>Calculated Metrics:</a:t>
            </a:r>
            <a:endParaRPr lang="en-US" sz="1500" dirty="0"/>
          </a:p>
          <a:p>
            <a:pPr lvl="2"/>
            <a:r>
              <a:rPr lang="en-US" sz="1500" dirty="0"/>
              <a:t>Total Orders</a:t>
            </a:r>
          </a:p>
          <a:p>
            <a:pPr lvl="2"/>
            <a:r>
              <a:rPr lang="en-US" sz="1500" dirty="0"/>
              <a:t>Total Sales</a:t>
            </a:r>
          </a:p>
          <a:p>
            <a:pPr lvl="2"/>
            <a:r>
              <a:rPr lang="en-US" sz="1500" dirty="0"/>
              <a:t>Average Price</a:t>
            </a:r>
          </a:p>
          <a:p>
            <a:pPr lvl="2"/>
            <a:r>
              <a:rPr lang="en-US" sz="1500" dirty="0"/>
              <a:t>Average Order Value (AOV)</a:t>
            </a:r>
          </a:p>
        </p:txBody>
      </p:sp>
    </p:spTree>
    <p:extLst>
      <p:ext uri="{BB962C8B-B14F-4D97-AF65-F5344CB8AC3E}">
        <p14:creationId xmlns:p14="http://schemas.microsoft.com/office/powerpoint/2010/main" val="4172272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11E3-A2A8-7794-5F23-FB02F995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62CC4-E061-AD0B-12AC-E03566054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 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validation &amp; exploratory analysis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  <a:endParaRPr lang="en-US" sz="1500" b="1" dirty="0"/>
          </a:p>
          <a:p>
            <a:pPr lvl="2"/>
            <a:r>
              <a:rPr lang="en-US" sz="1500" dirty="0"/>
              <a:t>DAX – Calculated measures and time intelligence</a:t>
            </a:r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413282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7F9D2-2B08-BE7A-AC68-5C145432C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92F80-7C66-FE98-3511-7E503E08D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16151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D1376-0A7F-D1E8-CDD9-CFBB636EB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Preparation, Process &amp; Analytical Approach:</a:t>
            </a:r>
          </a:p>
          <a:p>
            <a:r>
              <a:rPr lang="en-US" sz="1400" b="1" dirty="0"/>
              <a:t>Data Preparation &amp; Cleaning:</a:t>
            </a:r>
          </a:p>
          <a:p>
            <a:pPr lvl="1"/>
            <a:r>
              <a:rPr lang="en-US" sz="1400" dirty="0"/>
              <a:t>Imported raw restaurant sales data &amp; verified column consistency (Order Date, Order Time, Category, Item Name, Price).</a:t>
            </a:r>
          </a:p>
          <a:p>
            <a:pPr lvl="1"/>
            <a:r>
              <a:rPr lang="en-US" sz="1400" dirty="0"/>
              <a:t>Performed data quality checks: Missing values, Duplicate </a:t>
            </a:r>
            <a:r>
              <a:rPr lang="en-US" sz="1400" b="1" dirty="0" err="1"/>
              <a:t>Order_Details_ID</a:t>
            </a:r>
            <a:r>
              <a:rPr lang="en-US" sz="1400" b="1" dirty="0"/>
              <a:t>, </a:t>
            </a:r>
            <a:r>
              <a:rPr lang="en-US" sz="1400" dirty="0"/>
              <a:t>Invalid or inconsistent price entries.</a:t>
            </a:r>
          </a:p>
          <a:p>
            <a:pPr lvl="1"/>
            <a:r>
              <a:rPr lang="en-US" sz="1400" dirty="0"/>
              <a:t>Standardized date and time formats &amp; ensured category and item naming consistency for downstream BI usage.</a:t>
            </a:r>
          </a:p>
          <a:p>
            <a:r>
              <a:rPr lang="en-US" sz="1400" b="1" dirty="0"/>
              <a:t>Data Modeling &amp; Integration:</a:t>
            </a:r>
          </a:p>
          <a:p>
            <a:pPr lvl="1"/>
            <a:r>
              <a:rPr lang="en-US" sz="1400" dirty="0"/>
              <a:t>Imported the cleaned Excel dataset into </a:t>
            </a:r>
            <a:r>
              <a:rPr lang="en-US" sz="1400" b="1" dirty="0"/>
              <a:t>Power BI.</a:t>
            </a:r>
            <a:endParaRPr lang="en-US" sz="1400" dirty="0"/>
          </a:p>
          <a:p>
            <a:pPr lvl="1"/>
            <a:r>
              <a:rPr lang="en-US" sz="1400" dirty="0"/>
              <a:t>Used a </a:t>
            </a:r>
            <a:r>
              <a:rPr lang="en-US" sz="1400" b="1" dirty="0"/>
              <a:t>single-table, flat data model</a:t>
            </a:r>
            <a:r>
              <a:rPr lang="en-US" sz="1400" dirty="0"/>
              <a:t> for performance and simplicity.</a:t>
            </a:r>
          </a:p>
          <a:p>
            <a:pPr lvl="1"/>
            <a:r>
              <a:rPr lang="en-US" sz="1400" dirty="0"/>
              <a:t>Created logical analytical groupings: Order Date → Month, Weekday, Order Time → Order Hour, Category → Item hierarchy.</a:t>
            </a:r>
          </a:p>
          <a:p>
            <a:pPr lvl="1"/>
            <a:r>
              <a:rPr lang="en-US" sz="1400" dirty="0"/>
              <a:t>Enabled dynamic slicing by: Item Category, Meal Type, Weekday Order Number.</a:t>
            </a:r>
          </a:p>
          <a:p>
            <a:r>
              <a:rPr lang="en-US" sz="1400" b="1" dirty="0"/>
              <a:t>Feature Engineering:</a:t>
            </a:r>
          </a:p>
          <a:p>
            <a:pPr lvl="1"/>
            <a:r>
              <a:rPr lang="en-US" sz="1400" dirty="0"/>
              <a:t>Created derived columns using </a:t>
            </a:r>
            <a:r>
              <a:rPr lang="en-US" sz="1400" b="1" dirty="0"/>
              <a:t>Excel + Power BI</a:t>
            </a:r>
            <a:r>
              <a:rPr lang="en-US" sz="1400" dirty="0"/>
              <a:t>: Order Month, Weekday Order Number (for correct weekday sorting), Meal Type classification based on order time.</a:t>
            </a:r>
          </a:p>
          <a:p>
            <a:pPr lvl="1"/>
            <a:r>
              <a:rPr lang="en-US" sz="1400" dirty="0"/>
              <a:t>Developed key DAX measures: Total Orders, Total Sales, Average Price, Average Order Value (AOV).</a:t>
            </a:r>
          </a:p>
          <a:p>
            <a:r>
              <a:rPr lang="en-US" sz="1400" b="1" dirty="0"/>
              <a:t>Visualization Design:</a:t>
            </a:r>
          </a:p>
          <a:p>
            <a:pPr lvl="1"/>
            <a:r>
              <a:rPr lang="en-US" sz="1400" dirty="0"/>
              <a:t>Designed KPI cards for quick executive-level insights.</a:t>
            </a:r>
          </a:p>
          <a:p>
            <a:pPr lvl="1"/>
            <a:r>
              <a:rPr lang="en-US" sz="1400" dirty="0"/>
              <a:t>Optimized visual hierarchy for business storytelling and decision-making.</a:t>
            </a:r>
          </a:p>
          <a:p>
            <a:r>
              <a:rPr lang="en-US" sz="1400" b="1" dirty="0"/>
              <a:t>Validation &amp; Formatting:</a:t>
            </a:r>
          </a:p>
          <a:p>
            <a:pPr lvl="1"/>
            <a:r>
              <a:rPr lang="en-US" sz="1400" dirty="0"/>
              <a:t>Validated slicer interactions across all visuals.</a:t>
            </a:r>
          </a:p>
          <a:p>
            <a:pPr lvl="1"/>
            <a:r>
              <a:rPr lang="en-US" sz="1400" dirty="0"/>
              <a:t>Finalized dashboard for presentation and stakeholder consumption.</a:t>
            </a:r>
          </a:p>
        </p:txBody>
      </p:sp>
    </p:spTree>
    <p:extLst>
      <p:ext uri="{BB962C8B-B14F-4D97-AF65-F5344CB8AC3E}">
        <p14:creationId xmlns:p14="http://schemas.microsoft.com/office/powerpoint/2010/main" val="3614080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B5B7-385A-001C-9ABC-EBA78E04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6F87-DF18-5AE1-0FC7-89A1C41F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D71D2-ABCA-6D67-B60E-96281248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Restaurants generate large volumes of transactional data across orders, menu items, cuisines, meal times, and days of operation. However, without structured analysis, it becomes difficult to identify: Best cuisine categories, Peak order placement periods, Top revenue-generating menu items, Ordering behavior variation by time and meal type.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This project analyzes </a:t>
            </a:r>
            <a:r>
              <a:rPr lang="en-US" sz="1600" b="1" dirty="0"/>
              <a:t>Spice Odyssey’s sales data</a:t>
            </a:r>
            <a:r>
              <a:rPr lang="en-US" sz="1600" dirty="0"/>
              <a:t> to uncover actionable insights that support </a:t>
            </a:r>
            <a:r>
              <a:rPr lang="en-US" sz="1600" b="1" dirty="0"/>
              <a:t>menu optimization, operational planning, and revenue growth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  <a:endParaRPr lang="en-US" sz="1500" dirty="0"/>
          </a:p>
          <a:p>
            <a:pPr lvl="1"/>
            <a:r>
              <a:rPr lang="en-US" sz="1500" dirty="0"/>
              <a:t>Which cuisine category receives the highest number of orders?</a:t>
            </a:r>
          </a:p>
          <a:p>
            <a:pPr lvl="1"/>
            <a:r>
              <a:rPr lang="en-US" sz="1500" dirty="0"/>
              <a:t>How do orders and sales vary across weekdays and time?</a:t>
            </a:r>
          </a:p>
          <a:p>
            <a:pPr lvl="1"/>
            <a:r>
              <a:rPr lang="en-US" sz="1500" dirty="0"/>
              <a:t>Which cuisines and items drive the most revenue?</a:t>
            </a:r>
          </a:p>
          <a:p>
            <a:pPr lvl="1"/>
            <a:r>
              <a:rPr lang="en-US" sz="1500" dirty="0"/>
              <a:t>What patterns define high-value customer orders?</a:t>
            </a:r>
          </a:p>
        </p:txBody>
      </p:sp>
    </p:spTree>
    <p:extLst>
      <p:ext uri="{BB962C8B-B14F-4D97-AF65-F5344CB8AC3E}">
        <p14:creationId xmlns:p14="http://schemas.microsoft.com/office/powerpoint/2010/main" val="103117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7E577-2B86-C564-14EB-D400F7E5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1737A-7469-A45C-89DC-D3ADD9657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4CCC3-91A6-23AA-28FD-3DC132AF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3976"/>
            <a:ext cx="12192000" cy="4764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b="1" dirty="0"/>
              <a:t>Asian cuisine</a:t>
            </a:r>
            <a:r>
              <a:rPr lang="en-US" sz="1500" dirty="0"/>
              <a:t> is the most ordered category.</a:t>
            </a:r>
          </a:p>
          <a:p>
            <a:pPr lvl="1"/>
            <a:r>
              <a:rPr lang="en-US" sz="1500" b="1" dirty="0"/>
              <a:t>Dinner time</a:t>
            </a:r>
            <a:r>
              <a:rPr lang="en-US" sz="1500" dirty="0"/>
              <a:t> contributes the highest share of orders (~60%).</a:t>
            </a:r>
          </a:p>
          <a:p>
            <a:pPr lvl="1"/>
            <a:r>
              <a:rPr lang="en-US" sz="1500" b="1" dirty="0"/>
              <a:t>Lunch and dinner hours (12 PM &amp; 5–7 PM)</a:t>
            </a:r>
            <a:r>
              <a:rPr lang="en-US" sz="1500" dirty="0"/>
              <a:t> generate peak revenue.</a:t>
            </a:r>
          </a:p>
          <a:p>
            <a:pPr lvl="1"/>
            <a:r>
              <a:rPr lang="en-US" sz="1500" dirty="0"/>
              <a:t>Premium items like </a:t>
            </a:r>
            <a:r>
              <a:rPr lang="en-US" sz="1500" b="1" dirty="0"/>
              <a:t>Tofu Pad Thai and Steak Torta</a:t>
            </a:r>
            <a:r>
              <a:rPr lang="en-US" sz="1500" dirty="0"/>
              <a:t> drive higher sales.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Asian category: ~2.6K orders</a:t>
            </a:r>
          </a:p>
          <a:p>
            <a:pPr lvl="1"/>
            <a:r>
              <a:rPr lang="en-US" sz="1500" dirty="0"/>
              <a:t>Dinner orders: ~60.6% of total</a:t>
            </a:r>
          </a:p>
          <a:p>
            <a:pPr lvl="1"/>
            <a:r>
              <a:rPr lang="en-US" sz="1500" dirty="0"/>
              <a:t>Peak weekday demand: </a:t>
            </a:r>
            <a:r>
              <a:rPr lang="en-US" sz="1500" b="1" dirty="0"/>
              <a:t>Monday &amp; Friday</a:t>
            </a:r>
            <a:endParaRPr lang="en-US" sz="1500" dirty="0"/>
          </a:p>
          <a:p>
            <a:pPr lvl="1"/>
            <a:r>
              <a:rPr lang="en-US" sz="1500" dirty="0"/>
              <a:t>Highest-selling item: </a:t>
            </a:r>
            <a:r>
              <a:rPr lang="en-US" sz="1500" b="1" dirty="0"/>
              <a:t>Tofu Pad Thai (~8.1K sales)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3212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81B5-C578-E115-D4EE-3B5B5CC6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F1E8-B7D8-C1FF-1F55-3E5F6C36A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72184"/>
            <a:ext cx="12192000" cy="5385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analysis reveals that </a:t>
            </a:r>
            <a:r>
              <a:rPr lang="en-US" sz="1500" b="1" dirty="0"/>
              <a:t>customer demand at Spice Odyssey is highly influenced by cuisine type, meal timing, and ordering patterns across the week</a:t>
            </a:r>
            <a:r>
              <a:rPr lang="en-US" sz="1500" dirty="0"/>
              <a:t>. Certain cuisines consistently outperform others in both order volume and revenue contribution, indicating clear customer preferences.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Asian and Mexican cuisines emerge as the strongest growth drivers</a:t>
            </a:r>
            <a:r>
              <a:rPr lang="en-US" sz="1500" dirty="0"/>
              <a:t>, leading in total orders and maintaining competitive average prices. These categories present significant opportunities for </a:t>
            </a:r>
            <a:r>
              <a:rPr lang="en-US" sz="1500" b="1" dirty="0"/>
              <a:t>menu expansion, promotional focus, and inventory prioritization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High-value orders are primarily concentrated during </a:t>
            </a:r>
            <a:r>
              <a:rPr lang="en-US" sz="1500" b="1" dirty="0"/>
              <a:t>peak meal hours—especially lunch and dinner periods</a:t>
            </a:r>
            <a:r>
              <a:rPr lang="en-US" sz="1500" dirty="0"/>
              <a:t>—and are associated with </a:t>
            </a:r>
            <a:r>
              <a:rPr lang="en-US" sz="1500" b="1" dirty="0"/>
              <a:t>premium or popular menu items</a:t>
            </a:r>
            <a:r>
              <a:rPr lang="en-US" sz="1500" dirty="0"/>
              <a:t>. This highlights the importance of aligning pricing strategies, staffing, and promotional efforts with high-traffic time windows.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The interactive Power BI dashboard provides a </a:t>
            </a:r>
            <a:r>
              <a:rPr lang="en-US" sz="1500" b="1" dirty="0"/>
              <a:t>centralized, real-time view of restaurant performance</a:t>
            </a:r>
            <a:r>
              <a:rPr lang="en-US" sz="1500" dirty="0"/>
              <a:t>, enabling management to:</a:t>
            </a:r>
          </a:p>
          <a:p>
            <a:pPr lvl="2"/>
            <a:r>
              <a:rPr lang="en-US" sz="1500" dirty="0"/>
              <a:t>Monitor sales and order trends dynamically</a:t>
            </a:r>
          </a:p>
          <a:p>
            <a:pPr lvl="2"/>
            <a:r>
              <a:rPr lang="en-US" sz="1500" dirty="0"/>
              <a:t>Identify high-performing cuisines and items</a:t>
            </a:r>
          </a:p>
          <a:p>
            <a:pPr lvl="2"/>
            <a:r>
              <a:rPr lang="en-US" sz="1500" dirty="0"/>
              <a:t>Optimize menu strategy and operational planning</a:t>
            </a:r>
          </a:p>
          <a:p>
            <a:pPr lvl="2"/>
            <a:r>
              <a:rPr lang="en-US" sz="1500" dirty="0"/>
              <a:t>Make faster, data-driven business decisions</a:t>
            </a:r>
          </a:p>
          <a:p>
            <a:pPr marL="0" indent="0">
              <a:buNone/>
            </a:pPr>
            <a:r>
              <a:rPr lang="en-US" sz="1500" dirty="0"/>
              <a:t>Overall, this project demonstrates how </a:t>
            </a:r>
            <a:r>
              <a:rPr lang="en-US" sz="1500" b="1" dirty="0"/>
              <a:t>structured sales analytics can directly support revenue growth, customer satisfaction, and operational efficiency</a:t>
            </a:r>
            <a:r>
              <a:rPr lang="en-US" sz="1500" dirty="0"/>
              <a:t> in a restaurant business.</a:t>
            </a:r>
          </a:p>
        </p:txBody>
      </p:sp>
    </p:spTree>
    <p:extLst>
      <p:ext uri="{BB962C8B-B14F-4D97-AF65-F5344CB8AC3E}">
        <p14:creationId xmlns:p14="http://schemas.microsoft.com/office/powerpoint/2010/main" val="293093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sz="4000" b="1" dirty="0"/>
              <a:t>🖥️ Dashboard Overview – Sales Performance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226C6E-0F9D-CF9C-6EE4-597A60A83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3312"/>
            <a:ext cx="12192000" cy="5504687"/>
          </a:xfr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4F3A-2AE5-5D64-E967-D92B175D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C242B65-B659-DB4E-7B32-9441A85C9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7C3C13-8163-D6BA-A4EE-8F17076CB3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651308"/>
            <a:ext cx="12088367" cy="4329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1500" dirty="0"/>
              <a:t>By identifying </a:t>
            </a:r>
            <a:r>
              <a:rPr lang="en-US" sz="1500" b="1" dirty="0"/>
              <a:t>top-performing cuisines and high-value menu items</a:t>
            </a:r>
            <a:r>
              <a:rPr lang="en-US" sz="1500" dirty="0"/>
              <a:t>, the dashboard supports </a:t>
            </a:r>
            <a:r>
              <a:rPr lang="en-US" sz="1500" b="1" dirty="0"/>
              <a:t>revenue optimization through informed pricing, bundling, and promotional strategies</a:t>
            </a:r>
            <a:r>
              <a:rPr lang="en-US" sz="1500" dirty="0"/>
              <a:t>. Category-level demand insights highlight strong growth opportunities in </a:t>
            </a:r>
            <a:r>
              <a:rPr lang="en-US" sz="1500" b="1" dirty="0"/>
              <a:t>Asian and Mexican cuisines</a:t>
            </a:r>
            <a:r>
              <a:rPr lang="en-US" sz="1500" dirty="0"/>
              <a:t>, guiding menu expansion and product development decisions.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Operational efficiency is enhanced through analysis of </a:t>
            </a:r>
            <a:r>
              <a:rPr lang="en-US" sz="1500" b="1" dirty="0"/>
              <a:t>peak ordering hours and meal-type trends</a:t>
            </a:r>
            <a:r>
              <a:rPr lang="en-US" sz="1500" dirty="0"/>
              <a:t>, enabling improved </a:t>
            </a:r>
            <a:r>
              <a:rPr lang="en-US" sz="1500" b="1" dirty="0"/>
              <a:t>staff scheduling, inventory planning, and kitchen workload management</a:t>
            </a:r>
            <a:r>
              <a:rPr lang="en-US" sz="1500" dirty="0"/>
              <a:t>. Marketing teams can leverage </a:t>
            </a:r>
            <a:r>
              <a:rPr lang="en-US" sz="1500" b="1" dirty="0"/>
              <a:t>weekday and time-based demand patterns</a:t>
            </a:r>
            <a:r>
              <a:rPr lang="en-US" sz="1500" dirty="0"/>
              <a:t> to design targeted campaigns such as lunch offers, dinner combos, and weekday-specific promotions.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The centralized </a:t>
            </a:r>
            <a:r>
              <a:rPr lang="en-US" sz="1500" b="1" dirty="0"/>
              <a:t>Power BI dashboard replaces manual reporting</a:t>
            </a:r>
            <a:r>
              <a:rPr lang="en-US" sz="1500" dirty="0"/>
              <a:t>, allowing leadership to track </a:t>
            </a:r>
            <a:r>
              <a:rPr lang="en-US" sz="1500" b="1" dirty="0"/>
              <a:t>daily, weekly, and monthly performance in real time</a:t>
            </a:r>
            <a:r>
              <a:rPr lang="en-US" sz="1500" dirty="0"/>
              <a:t>. This ensures faster insights, consistent reporting, and better strategic planning across the organization.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Primary Use Cases</a:t>
            </a:r>
          </a:p>
          <a:p>
            <a:pPr lvl="2"/>
            <a:r>
              <a:rPr lang="en-US" sz="1500" b="1" dirty="0"/>
              <a:t>Restaurant Management:</a:t>
            </a:r>
            <a:r>
              <a:rPr lang="en-US" sz="1500" dirty="0"/>
              <a:t> Monitor performance trends and optimize operations to improve profitability</a:t>
            </a:r>
          </a:p>
          <a:p>
            <a:pPr lvl="2"/>
            <a:r>
              <a:rPr lang="en-US" sz="1500" b="1" dirty="0"/>
              <a:t>Menu &amp; Product Teams:</a:t>
            </a:r>
            <a:r>
              <a:rPr lang="en-US" sz="1500" dirty="0"/>
              <a:t> Identify high-demand and underperforming items to guide menu strategy</a:t>
            </a:r>
          </a:p>
          <a:p>
            <a:pPr lvl="2"/>
            <a:r>
              <a:rPr lang="en-US" sz="1500" b="1" dirty="0"/>
              <a:t>Marketing Teams:</a:t>
            </a:r>
            <a:r>
              <a:rPr lang="en-US" sz="1500" dirty="0"/>
              <a:t> Launch targeted, time-based promotional campaigns</a:t>
            </a:r>
          </a:p>
          <a:p>
            <a:pPr lvl="2"/>
            <a:r>
              <a:rPr lang="en-US" sz="1500" b="1" dirty="0"/>
              <a:t>Operations &amp; Supply Chain:</a:t>
            </a:r>
            <a:r>
              <a:rPr lang="en-US" sz="1500" dirty="0"/>
              <a:t> Align staffing and ingredient procurement with demand patterns</a:t>
            </a:r>
          </a:p>
          <a:p>
            <a:pPr lvl="2"/>
            <a:r>
              <a:rPr lang="en-US" sz="1500" b="1" dirty="0"/>
              <a:t>Leadership &amp; Stakeholders:</a:t>
            </a:r>
            <a:r>
              <a:rPr lang="en-US" sz="1500" dirty="0"/>
              <a:t> Drive strategic decisions using reliable KPIs and visual insights</a:t>
            </a:r>
          </a:p>
        </p:txBody>
      </p:sp>
    </p:spTree>
    <p:extLst>
      <p:ext uri="{BB962C8B-B14F-4D97-AF65-F5344CB8AC3E}">
        <p14:creationId xmlns:p14="http://schemas.microsoft.com/office/powerpoint/2010/main" val="3286508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6894</TotalTime>
  <Words>1292</Words>
  <Application>Microsoft Office PowerPoint</Application>
  <PresentationFormat>Widescreen</PresentationFormat>
  <Paragraphs>141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Spice Odyssey Sales Performance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– Sales Performance 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58</cp:revision>
  <dcterms:created xsi:type="dcterms:W3CDTF">2025-10-10T07:10:37Z</dcterms:created>
  <dcterms:modified xsi:type="dcterms:W3CDTF">2026-01-05T11:51:57Z</dcterms:modified>
</cp:coreProperties>
</file>