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80" r:id="rId3"/>
    <p:sldId id="281" r:id="rId4"/>
    <p:sldId id="276" r:id="rId5"/>
    <p:sldId id="260" r:id="rId6"/>
    <p:sldId id="287" r:id="rId7"/>
    <p:sldId id="278" r:id="rId8"/>
    <p:sldId id="279" r:id="rId9"/>
    <p:sldId id="262" r:id="rId10"/>
    <p:sldId id="273" r:id="rId11"/>
    <p:sldId id="28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B5CF1F-F9A3-4EFC-825C-53D69F984385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831917-29C8-4BC7-957C-F11257860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502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D1AD1-5408-3924-9E82-E0BB72F07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6AC6D5-7547-85A9-8E32-CC00183DE2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002EF2-592C-DC65-CAAA-8AFDDA1AF7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79FAE1-F0F9-D2F2-EC53-AC69F07BCF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831917-29C8-4BC7-957C-F11257860B4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9125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831917-29C8-4BC7-957C-F11257860B4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8610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831917-29C8-4BC7-957C-F11257860B4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176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D07CF-3689-70DD-CB28-AAE11118CA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E1CE79-C9C7-BB25-EF2A-10D0058475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6502CA-5B96-CB8A-20AE-3906E8C37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4E639-AD7E-574C-C9E9-F5B43490D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2CD176-E79D-6844-CB60-E7C78B681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980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97AB7-A55C-0B82-FAED-B7E332320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41BAA-D510-ABB0-901D-0FAB309B05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012E59-3B88-F398-664D-3985AEA37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C125EA-93FA-07C0-7322-40260FD57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5D02C-4A2F-1824-59A1-7983E4498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155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BFFE9-1FD7-F63D-6439-1E27142E8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3D7795-663E-05D7-5AD6-EDE501C60D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78FD33-591E-4820-A128-A94F0B334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73559-082C-1927-2A99-DB0902A7B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57344-A764-7087-642A-130D4BDB1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584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862F8-3E12-F92D-405F-D6F538733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0E924-67EF-C4F4-CBC4-3BA853B515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F2A22-3AA1-9209-180C-ACD5CAE432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B6BA27-B2FD-C446-BEC7-8C46DD9BB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8349FC-F9E9-C312-F4C6-8D6D604F9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F505D3-5917-4780-1633-FE4FD2110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070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E271D-B1D1-D670-316D-2468EC1F2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281C9-A6B4-72BB-6420-63D0C9FB8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4F6D81-DC99-1889-9E64-F6033F06DA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58B6AD-9212-7FEB-CFE3-F3E14CFE62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D93A19-BA01-CA22-F22E-732EFB0CE9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AFDF2F-88B4-F652-05E4-CA5A375F5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DAF91B-DD72-2AA0-29EB-85B63003A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67C143-07DD-21D1-88BC-58DBC3BE3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718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3502C-7C07-3A37-3440-CFE6877CD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934A65-9ABA-A4CB-2DD7-5CB25ECEF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497960-613F-64A1-9E19-FCAF8E811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4E4B99-D02C-E34A-900E-401B4D530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82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7203A9-34DF-1A1A-0FAE-6315B9509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6D59CC-1CEE-6108-18C9-364D0D30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2AA34D-CFA4-C5D3-2E13-D88629799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65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55679-E51D-0CCA-C05C-4463EE166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97ADE-E05C-21F4-DCE0-A14C75F551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6D3006-CFC8-B856-9620-E3B6D8BE98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F8152A-8351-B7BE-2FF4-ECFD17E11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D8D4CE-EDF4-0C77-DFBD-B16DB10CC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4EC1D1-D55C-A862-30A7-9C883B683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313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672F1-FAF3-F6B1-75BE-9D89225C8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20378F-FD1A-2C35-6AE0-CE2E78A7A9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D4C9C7-AA5D-5148-E367-145C76EB97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CCB853-5ABE-2552-6205-942FD79D3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129388-4C49-BE88-B847-EE920D618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443087-2BB3-A704-D22E-D242C7218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027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B142C-5EF6-2436-9786-E5975AD47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D4508B-5FD2-4D1F-FD73-B24651E211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C65CB0-E5BC-47F5-6035-DBCFE4349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FF356D-EF3B-C45C-A827-E6901EAFD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45E016-DF99-DC44-C6F3-B22839CB5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58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7D9BCE-A0F0-4C4F-1D8F-DC958C87F4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9F0D40-AC43-C1C8-5C8B-94D803BC07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4B8351-C7F1-1407-53B1-FD03FFC3F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80FF2-A8E9-E359-37B4-ED45884BA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B22B75-6ECC-17A2-20CE-2675B3D9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027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9F13E8-0655-D862-8DF0-C1E93F72E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FBFED0-7C94-95B8-C497-12C513EF1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737FD-4D5B-4F88-10A6-46C987B1DC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6CA240-4DCA-41BB-A29D-1D0DE405E1C9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67536-CC95-FFEB-5C32-E7F7DA66E2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286531-DCEC-0275-6210-63850CEAF3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591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cnik1710/" TargetMode="External"/><Relationship Id="rId2" Type="http://schemas.openxmlformats.org/officeDocument/2006/relationships/hyperlink" Target="https://github.com/Cnik1710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D8680-A25A-D894-2D56-B1731FC78D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14400"/>
            <a:ext cx="12192000" cy="170078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Spice Odyssey Restaurant &amp; Co. Sales Performance Analysis</a:t>
            </a:r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6EA40268-244F-926E-D357-3F80868EF7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15184"/>
            <a:ext cx="9713976" cy="2642616"/>
          </a:xfrm>
        </p:spPr>
        <p:txBody>
          <a:bodyPr/>
          <a:lstStyle/>
          <a:p>
            <a:pPr algn="r"/>
            <a:r>
              <a:rPr lang="en-US" b="1" dirty="0"/>
              <a:t>- A Data Analytics Case Study by Anik Chakraborty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9708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6A398-D65D-B3E5-9070-A8CA33963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199EC-E2BC-3F53-0638-8618F6375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07007"/>
          </a:xfrm>
        </p:spPr>
        <p:txBody>
          <a:bodyPr/>
          <a:lstStyle/>
          <a:p>
            <a:r>
              <a:rPr lang="en-US" b="1" dirty="0"/>
              <a:t>🎯 Objective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3B8E6-EDC8-CCB1-DC20-A9A52B800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07008"/>
            <a:ext cx="12192000" cy="56509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dirty="0"/>
              <a:t>Analyze and interpret </a:t>
            </a:r>
            <a:r>
              <a:rPr lang="en-US" sz="1500" b="1" dirty="0"/>
              <a:t>Spice Odyssey Restaurant &amp; Co. Sales data</a:t>
            </a:r>
            <a:r>
              <a:rPr lang="en-US" sz="1500" dirty="0"/>
              <a:t> to uncover actionable insights that drive </a:t>
            </a:r>
            <a:r>
              <a:rPr lang="en-US" sz="1500" b="1" dirty="0"/>
              <a:t>customer engagement, menu &amp; product optimization, targeted marketing, inventory &amp; operational planning.</a:t>
            </a:r>
            <a:br>
              <a:rPr lang="en-US" sz="1500" b="1" dirty="0"/>
            </a:br>
            <a:br>
              <a:rPr lang="en-US" sz="1500" b="1" dirty="0"/>
            </a:br>
            <a:endParaRPr lang="en-US" sz="1500" b="1" dirty="0"/>
          </a:p>
          <a:p>
            <a:pPr marL="0" indent="0">
              <a:buNone/>
            </a:pPr>
            <a:r>
              <a:rPr lang="en-US" sz="1500" b="1" dirty="0"/>
              <a:t>Project Purpose:</a:t>
            </a:r>
          </a:p>
          <a:p>
            <a:pPr lvl="1"/>
            <a:r>
              <a:rPr lang="en-US" sz="1500" dirty="0"/>
              <a:t>To analyze restaurant sales data and uncover </a:t>
            </a:r>
            <a:r>
              <a:rPr lang="en-US" sz="1500" b="1" dirty="0"/>
              <a:t>ordering patterns, customer preferences, and revenue drivers</a:t>
            </a:r>
            <a:r>
              <a:rPr lang="en-US" sz="1500" dirty="0"/>
              <a:t>.</a:t>
            </a:r>
          </a:p>
          <a:p>
            <a:pPr lvl="1"/>
            <a:r>
              <a:rPr lang="en-US" sz="1500" dirty="0"/>
              <a:t>To support </a:t>
            </a:r>
            <a:r>
              <a:rPr lang="en-US" sz="1500" b="1" dirty="0"/>
              <a:t>data-driven decisions</a:t>
            </a:r>
            <a:r>
              <a:rPr lang="en-US" sz="1500" dirty="0"/>
              <a:t> for menu optimization, pricing strategy, and operational planning.</a:t>
            </a:r>
          </a:p>
          <a:p>
            <a:pPr marL="0" indent="0">
              <a:buNone/>
            </a:pPr>
            <a:endParaRPr lang="en-US" sz="1500" b="1" dirty="0"/>
          </a:p>
          <a:p>
            <a:pPr marL="0" indent="0">
              <a:buNone/>
            </a:pPr>
            <a:r>
              <a:rPr lang="en-US" sz="1500" b="1" dirty="0"/>
              <a:t>Key KPIs:</a:t>
            </a:r>
          </a:p>
          <a:p>
            <a:pPr lvl="1"/>
            <a:r>
              <a:rPr lang="en-US" sz="1500" b="1" dirty="0"/>
              <a:t>Total Orders: </a:t>
            </a:r>
            <a:r>
              <a:rPr lang="en-US" sz="1500" dirty="0"/>
              <a:t>5K</a:t>
            </a:r>
          </a:p>
          <a:p>
            <a:pPr lvl="1"/>
            <a:r>
              <a:rPr lang="en-US" sz="1500" b="1" dirty="0"/>
              <a:t>Total Sales:  </a:t>
            </a:r>
            <a:r>
              <a:rPr lang="en-US" sz="1500" dirty="0"/>
              <a:t>~160K</a:t>
            </a:r>
          </a:p>
          <a:p>
            <a:pPr lvl="1"/>
            <a:r>
              <a:rPr lang="en-US" sz="1500" b="1" dirty="0"/>
              <a:t>Average Price: </a:t>
            </a:r>
            <a:r>
              <a:rPr lang="en-US" sz="1500" dirty="0"/>
              <a:t>~13.16</a:t>
            </a:r>
          </a:p>
          <a:p>
            <a:pPr lvl="1"/>
            <a:r>
              <a:rPr lang="en-US" sz="1500" b="1" dirty="0"/>
              <a:t>Average Order Value (AOV): </a:t>
            </a:r>
            <a:r>
              <a:rPr lang="en-US" sz="1500" dirty="0"/>
              <a:t>~29.27</a:t>
            </a:r>
          </a:p>
          <a:p>
            <a:pPr marL="0" indent="0">
              <a:buNone/>
            </a:pPr>
            <a:endParaRPr lang="en-US" sz="1500" b="1" dirty="0"/>
          </a:p>
          <a:p>
            <a:pPr marL="0" indent="0">
              <a:buNone/>
            </a:pPr>
            <a:r>
              <a:rPr lang="en-US" sz="1500" b="1" dirty="0"/>
              <a:t>Deliverables:</a:t>
            </a:r>
          </a:p>
          <a:p>
            <a:pPr lvl="1"/>
            <a:r>
              <a:rPr lang="en-US" sz="1500" dirty="0"/>
              <a:t>Interactive </a:t>
            </a:r>
            <a:r>
              <a:rPr lang="en-US" sz="1500" b="1" dirty="0"/>
              <a:t>Power BI dashboard</a:t>
            </a:r>
            <a:endParaRPr lang="en-US" sz="1500" dirty="0"/>
          </a:p>
          <a:p>
            <a:pPr lvl="1"/>
            <a:r>
              <a:rPr lang="en-US" sz="1500" dirty="0"/>
              <a:t>Actionable </a:t>
            </a:r>
            <a:r>
              <a:rPr lang="en-US" sz="1500" b="1" dirty="0"/>
              <a:t>business insights</a:t>
            </a:r>
            <a:endParaRPr lang="en-US" sz="1500" dirty="0"/>
          </a:p>
          <a:p>
            <a:pPr lvl="1"/>
            <a:r>
              <a:rPr lang="en-US" sz="1500" dirty="0"/>
              <a:t>Strategic </a:t>
            </a:r>
            <a:r>
              <a:rPr lang="en-US" sz="1500" b="1" dirty="0"/>
              <a:t>recommendations for menu &amp; operations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379018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57152-A1B7-CE90-04EE-620485BEB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40946-3428-2B8C-43D9-4F9CC6381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42416"/>
          </a:xfrm>
        </p:spPr>
        <p:txBody>
          <a:bodyPr/>
          <a:lstStyle/>
          <a:p>
            <a:r>
              <a:rPr lang="en-US" dirty="0"/>
              <a:t>📘 </a:t>
            </a:r>
            <a:r>
              <a:rPr lang="en-US" b="1" dirty="0"/>
              <a:t>Project 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E6036-ACFD-1AD7-4DEB-404B3BBE7A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00783"/>
            <a:ext cx="12192000" cy="515721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500" b="1" dirty="0"/>
          </a:p>
          <a:p>
            <a:pPr marL="0" indent="0">
              <a:buNone/>
            </a:pPr>
            <a:r>
              <a:rPr lang="en-US" sz="1500" b="1" dirty="0"/>
              <a:t>Context Highlights:</a:t>
            </a:r>
          </a:p>
          <a:p>
            <a:pPr marL="0" indent="0">
              <a:buNone/>
            </a:pPr>
            <a:r>
              <a:rPr lang="en-US" altLang="en-US" sz="1500" dirty="0"/>
              <a:t>This project analyzes sales data for </a:t>
            </a:r>
            <a:r>
              <a:rPr lang="en-US" altLang="en-US" sz="1500" b="1" dirty="0"/>
              <a:t>Spice Odyssey Restaurant &amp; Co.</a:t>
            </a:r>
            <a:r>
              <a:rPr lang="en-US" altLang="en-US" sz="1500" dirty="0"/>
              <a:t>, a multi-cuisine restaurant brand, to provide a holistic view of business performance and customer behavior.</a:t>
            </a:r>
            <a:endParaRPr lang="en-US" sz="1500" b="1" dirty="0"/>
          </a:p>
          <a:p>
            <a:pPr marL="0" indent="0">
              <a:buNone/>
            </a:pPr>
            <a:r>
              <a:rPr lang="en-US" sz="1500" dirty="0"/>
              <a:t>The analysis helps Spice Odyssey’s </a:t>
            </a:r>
            <a:r>
              <a:rPr lang="en-US" sz="1500" b="1" dirty="0"/>
              <a:t>marketing and product teams</a:t>
            </a:r>
            <a:r>
              <a:rPr lang="en-US" sz="1500" dirty="0"/>
              <a:t> understand:</a:t>
            </a:r>
          </a:p>
          <a:p>
            <a:pPr lvl="1"/>
            <a:r>
              <a:rPr lang="en-US" altLang="en-US" sz="1500" dirty="0"/>
              <a:t>The restaurant operates across </a:t>
            </a:r>
            <a:r>
              <a:rPr lang="en-US" altLang="en-US" sz="1500" b="1" dirty="0"/>
              <a:t>multiple cuisine categories</a:t>
            </a:r>
            <a:r>
              <a:rPr lang="en-US" altLang="en-US" sz="1500" dirty="0"/>
              <a:t> — </a:t>
            </a:r>
            <a:r>
              <a:rPr lang="en-US" altLang="en-US" sz="1500" b="1" dirty="0"/>
              <a:t>Asian, Mexican, Italian, and American.</a:t>
            </a:r>
            <a:endParaRPr lang="en-US" altLang="en-US" sz="1500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500" dirty="0"/>
              <a:t>Sales performance varies by </a:t>
            </a:r>
            <a:r>
              <a:rPr lang="en-US" sz="1500" b="1" dirty="0"/>
              <a:t>weekday, meal type, and time of day</a:t>
            </a:r>
            <a:r>
              <a:rPr lang="en-US" sz="1500" dirty="0"/>
              <a:t>.</a:t>
            </a:r>
            <a:endParaRPr lang="en-US" altLang="en-US" sz="1500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/>
              <a:t>Stakeholders lacked a </a:t>
            </a:r>
            <a:r>
              <a:rPr lang="en-US" altLang="en-US" sz="1500" b="1" dirty="0"/>
              <a:t>centralized analytics solution</a:t>
            </a:r>
            <a:r>
              <a:rPr lang="en-US" altLang="en-US" sz="1500" dirty="0"/>
              <a:t> to: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/>
              <a:t>Monitor overall performance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/>
              <a:t>Identify demand patterns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/>
              <a:t>Uncover revenue and growth opportunities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5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500" dirty="0"/>
              <a:t>This analysis consolidates raw transactional data into a </a:t>
            </a:r>
            <a:r>
              <a:rPr lang="en-US" altLang="en-US" sz="1500" b="1" dirty="0"/>
              <a:t>single, interactive Power BI dashboard</a:t>
            </a:r>
            <a:r>
              <a:rPr lang="en-US" altLang="en-US" sz="1500" dirty="0"/>
              <a:t>, enabling faster insights and more informed strategic decisions.</a:t>
            </a:r>
            <a:endParaRPr lang="en-US" sz="1500" b="1" dirty="0"/>
          </a:p>
        </p:txBody>
      </p:sp>
    </p:spTree>
    <p:extLst>
      <p:ext uri="{BB962C8B-B14F-4D97-AF65-F5344CB8AC3E}">
        <p14:creationId xmlns:p14="http://schemas.microsoft.com/office/powerpoint/2010/main" val="1243114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1CBA7-B2EC-113A-63CA-08AC4CE38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16269-369E-FA03-9818-12C6476A8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61287"/>
          </a:xfrm>
        </p:spPr>
        <p:txBody>
          <a:bodyPr/>
          <a:lstStyle/>
          <a:p>
            <a:r>
              <a:rPr lang="en-US" dirty="0"/>
              <a:t>🗂️ </a:t>
            </a:r>
            <a:r>
              <a:rPr lang="en-US" b="1" dirty="0"/>
              <a:t>Data Overview &amp; Schema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BA16E-7E4C-F05D-43DC-96B4E2273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53312"/>
            <a:ext cx="12192000" cy="550468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500" b="1" dirty="0"/>
              <a:t>Data Source:</a:t>
            </a:r>
          </a:p>
          <a:p>
            <a:pPr lvl="1"/>
            <a:r>
              <a:rPr lang="en-US" sz="1500" b="1" dirty="0"/>
              <a:t>Source: </a:t>
            </a:r>
            <a:r>
              <a:rPr lang="en-US" altLang="en-US" sz="1500" dirty="0"/>
              <a:t>Internal restaurant transactional sales dataset (simulated business data for analytics use case)</a:t>
            </a:r>
            <a:endParaRPr lang="en-US" sz="1500" dirty="0"/>
          </a:p>
          <a:p>
            <a:pPr lvl="1"/>
            <a:r>
              <a:rPr lang="en-US" sz="1500" b="1" dirty="0"/>
              <a:t>Data Type: </a:t>
            </a:r>
            <a:r>
              <a:rPr lang="en-US" altLang="en-US" sz="1500" dirty="0"/>
              <a:t>Structured, row-level order transaction data</a:t>
            </a:r>
            <a:endParaRPr lang="en-US" sz="1500" dirty="0"/>
          </a:p>
          <a:p>
            <a:pPr lvl="1"/>
            <a:r>
              <a:rPr lang="en-US" sz="1500" b="1" dirty="0"/>
              <a:t>Time Period: </a:t>
            </a:r>
            <a:r>
              <a:rPr lang="en-US" altLang="en-US" sz="1500" dirty="0"/>
              <a:t>January 2023 – December 2023</a:t>
            </a:r>
            <a:endParaRPr lang="en-US" sz="1500" b="1" dirty="0"/>
          </a:p>
          <a:p>
            <a:pPr marL="0" indent="0">
              <a:buNone/>
            </a:pPr>
            <a:endParaRPr lang="en-US" sz="1500" b="1" dirty="0"/>
          </a:p>
          <a:p>
            <a:pPr marL="0" indent="0">
              <a:buNone/>
            </a:pPr>
            <a:r>
              <a:rPr lang="en-US" sz="1500" b="1" dirty="0"/>
              <a:t>Data Structure &amp; Metrics:</a:t>
            </a:r>
          </a:p>
          <a:p>
            <a:pPr lvl="1"/>
            <a:r>
              <a:rPr lang="en-US" sz="1500" b="1" dirty="0"/>
              <a:t>Key Index Types: </a:t>
            </a:r>
            <a:r>
              <a:rPr lang="en-US" sz="1500" dirty="0"/>
              <a:t>Order ID, Order Date, Order Hour, Weekday Order Number, Item Name</a:t>
            </a:r>
          </a:p>
          <a:p>
            <a:pPr lvl="1"/>
            <a:r>
              <a:rPr lang="en-US" sz="1500" b="1" dirty="0"/>
              <a:t>Total Rows: </a:t>
            </a:r>
            <a:r>
              <a:rPr lang="en-US" sz="1500" dirty="0"/>
              <a:t>~5,000 order-level records</a:t>
            </a:r>
          </a:p>
          <a:p>
            <a:pPr lvl="1"/>
            <a:r>
              <a:rPr lang="en-US" sz="1500" b="1" dirty="0"/>
              <a:t>Categories:</a:t>
            </a:r>
            <a:endParaRPr lang="en-US" sz="1500" dirty="0"/>
          </a:p>
          <a:p>
            <a:pPr lvl="2"/>
            <a:r>
              <a:rPr lang="en-US" sz="1500" b="1" dirty="0"/>
              <a:t>Cuisine Category:</a:t>
            </a:r>
            <a:r>
              <a:rPr lang="en-US" sz="1500" dirty="0"/>
              <a:t> Asian, Mexican, Italian, American</a:t>
            </a:r>
          </a:p>
          <a:p>
            <a:pPr lvl="2"/>
            <a:r>
              <a:rPr lang="en-US" sz="1500" b="1" dirty="0"/>
              <a:t>Meal Type:</a:t>
            </a:r>
            <a:r>
              <a:rPr lang="en-US" sz="1500" dirty="0"/>
              <a:t> Breakfast, Lunch, Dinner, Late Night</a:t>
            </a:r>
          </a:p>
          <a:p>
            <a:pPr lvl="2"/>
            <a:r>
              <a:rPr lang="en-US" sz="1500" b="1" dirty="0"/>
              <a:t>Time Dimensions:</a:t>
            </a:r>
            <a:r>
              <a:rPr lang="en-US" sz="1500" dirty="0"/>
              <a:t> Month, Weekday, Hour</a:t>
            </a:r>
          </a:p>
          <a:p>
            <a:pPr lvl="1"/>
            <a:r>
              <a:rPr lang="en-US" sz="1500" b="1" dirty="0"/>
              <a:t>Calculated Metrics:</a:t>
            </a:r>
            <a:endParaRPr lang="en-US" sz="1500" dirty="0"/>
          </a:p>
          <a:p>
            <a:pPr lvl="2"/>
            <a:r>
              <a:rPr lang="en-US" sz="1500" dirty="0"/>
              <a:t>Total Orders</a:t>
            </a:r>
          </a:p>
          <a:p>
            <a:pPr lvl="2"/>
            <a:r>
              <a:rPr lang="en-US" sz="1500" dirty="0"/>
              <a:t>Total Sales</a:t>
            </a:r>
          </a:p>
          <a:p>
            <a:pPr lvl="2"/>
            <a:r>
              <a:rPr lang="en-US" sz="1500" dirty="0"/>
              <a:t>Average Price</a:t>
            </a:r>
          </a:p>
          <a:p>
            <a:pPr lvl="2"/>
            <a:r>
              <a:rPr lang="en-US" sz="1500" dirty="0"/>
              <a:t>Average Order Value (AOV)</a:t>
            </a:r>
          </a:p>
        </p:txBody>
      </p:sp>
    </p:spTree>
    <p:extLst>
      <p:ext uri="{BB962C8B-B14F-4D97-AF65-F5344CB8AC3E}">
        <p14:creationId xmlns:p14="http://schemas.microsoft.com/office/powerpoint/2010/main" val="4172272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011E3-A2A8-7794-5F23-FB02F995C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/>
          <a:lstStyle/>
          <a:p>
            <a:r>
              <a:rPr lang="en-US" dirty="0"/>
              <a:t>💻 </a:t>
            </a:r>
            <a:r>
              <a:rPr lang="en-US" b="1" dirty="0"/>
              <a:t>Tech Stack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62CC4-E061-AD0B-12AC-E03566054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" y="1536192"/>
            <a:ext cx="12192000" cy="53035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Tools:</a:t>
            </a:r>
            <a:endParaRPr lang="en-US" sz="1500" dirty="0"/>
          </a:p>
          <a:p>
            <a:pPr lvl="1"/>
            <a:r>
              <a:rPr lang="en-US" sz="1500" b="1" dirty="0"/>
              <a:t>Excel </a:t>
            </a:r>
            <a:r>
              <a:rPr lang="en-US" sz="1500" dirty="0"/>
              <a:t> </a:t>
            </a:r>
          </a:p>
          <a:p>
            <a:pPr lvl="2"/>
            <a:r>
              <a:rPr lang="en-US" sz="1500" dirty="0"/>
              <a:t>Data validation &amp; exploratory analysis</a:t>
            </a:r>
            <a:endParaRPr lang="en-US" sz="1500" b="1" dirty="0"/>
          </a:p>
          <a:p>
            <a:pPr lvl="1"/>
            <a:r>
              <a:rPr lang="en-US" sz="1500" b="1" dirty="0"/>
              <a:t>PowerQuery</a:t>
            </a:r>
            <a:r>
              <a:rPr lang="en-US" sz="1500" dirty="0"/>
              <a:t> </a:t>
            </a:r>
          </a:p>
          <a:p>
            <a:pPr lvl="2"/>
            <a:r>
              <a:rPr lang="en-US" sz="1500" dirty="0"/>
              <a:t>ETL transformations</a:t>
            </a:r>
            <a:endParaRPr lang="en-US" sz="1500" b="1" dirty="0"/>
          </a:p>
          <a:p>
            <a:pPr lvl="1"/>
            <a:r>
              <a:rPr lang="en-US" sz="1500" b="1" dirty="0"/>
              <a:t>PowerBI</a:t>
            </a:r>
          </a:p>
          <a:p>
            <a:pPr lvl="2"/>
            <a:r>
              <a:rPr lang="en-US" sz="1500" dirty="0"/>
              <a:t>Visualization, DAX measures &amp; dashboard design</a:t>
            </a:r>
          </a:p>
          <a:p>
            <a:pPr lvl="2"/>
            <a:r>
              <a:rPr lang="en-US" sz="1500" b="1" dirty="0"/>
              <a:t>DAX</a:t>
            </a:r>
            <a:r>
              <a:rPr lang="en-US" sz="1500" dirty="0"/>
              <a:t> – Calculated measures and time intelligence</a:t>
            </a:r>
          </a:p>
          <a:p>
            <a:pPr lvl="1"/>
            <a:r>
              <a:rPr lang="en-US" sz="1500" b="1" dirty="0"/>
              <a:t>PowerPoint</a:t>
            </a:r>
          </a:p>
          <a:p>
            <a:pPr lvl="2"/>
            <a:r>
              <a:rPr lang="en-US" sz="1500" dirty="0"/>
              <a:t>Presentation and final dashboard snapshots</a:t>
            </a:r>
          </a:p>
        </p:txBody>
      </p:sp>
    </p:spTree>
    <p:extLst>
      <p:ext uri="{BB962C8B-B14F-4D97-AF65-F5344CB8AC3E}">
        <p14:creationId xmlns:p14="http://schemas.microsoft.com/office/powerpoint/2010/main" val="41328285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7F9D2-2B08-BE7A-AC68-5C145432C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92F80-7C66-FE98-3511-7E503E08D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16151"/>
          </a:xfrm>
        </p:spPr>
        <p:txBody>
          <a:bodyPr/>
          <a:lstStyle/>
          <a:p>
            <a:r>
              <a:rPr lang="en-US" dirty="0"/>
              <a:t>📈 </a:t>
            </a:r>
            <a:r>
              <a:rPr lang="en-US" b="1" dirty="0"/>
              <a:t>Methodology &amp; 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D1376-0A7F-D1E8-CDD9-CFBB636EB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62456"/>
            <a:ext cx="12192000" cy="549554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/>
              <a:t>Data Preparation &amp; Cleaning:</a:t>
            </a:r>
          </a:p>
          <a:p>
            <a:pPr lvl="1"/>
            <a:r>
              <a:rPr lang="en-US" sz="1400" dirty="0"/>
              <a:t>Imported raw restaurant sales data &amp; verified column consistency (Order Date, Order Time, Category, Item Name, Price).</a:t>
            </a:r>
          </a:p>
          <a:p>
            <a:pPr lvl="1"/>
            <a:r>
              <a:rPr lang="en-US" sz="1400" dirty="0"/>
              <a:t>Performed data quality checks: Missing values, Duplicate </a:t>
            </a:r>
            <a:r>
              <a:rPr lang="en-US" sz="1400" b="1" dirty="0" err="1"/>
              <a:t>Order_Details_ID</a:t>
            </a:r>
            <a:r>
              <a:rPr lang="en-US" sz="1400" b="1" dirty="0"/>
              <a:t>, </a:t>
            </a:r>
            <a:r>
              <a:rPr lang="en-US" sz="1400" dirty="0"/>
              <a:t>Invalid or inconsistent price entries.</a:t>
            </a:r>
          </a:p>
          <a:p>
            <a:pPr lvl="1"/>
            <a:r>
              <a:rPr lang="en-US" sz="1400" dirty="0"/>
              <a:t>Standardized date and time formats &amp; ensured category and item naming consistency for downstream BI usage.</a:t>
            </a:r>
          </a:p>
          <a:p>
            <a:pPr marL="0" indent="0">
              <a:buNone/>
            </a:pPr>
            <a:r>
              <a:rPr lang="en-US" sz="1400" b="1" dirty="0"/>
              <a:t>Data Modeling &amp; Integration:</a:t>
            </a:r>
          </a:p>
          <a:p>
            <a:pPr lvl="1"/>
            <a:r>
              <a:rPr lang="en-US" sz="1400" dirty="0"/>
              <a:t>Imported the cleaned Excel dataset into </a:t>
            </a:r>
            <a:r>
              <a:rPr lang="en-US" sz="1400" b="1" dirty="0"/>
              <a:t>Power BI.</a:t>
            </a:r>
            <a:endParaRPr lang="en-US" sz="1400" dirty="0"/>
          </a:p>
          <a:p>
            <a:pPr lvl="1"/>
            <a:r>
              <a:rPr lang="en-US" sz="1400" dirty="0"/>
              <a:t>Used a </a:t>
            </a:r>
            <a:r>
              <a:rPr lang="en-US" sz="1400" b="1" dirty="0"/>
              <a:t>single-table, flat data model</a:t>
            </a:r>
            <a:r>
              <a:rPr lang="en-US" sz="1400" dirty="0"/>
              <a:t> for performance and simplicity.</a:t>
            </a:r>
          </a:p>
          <a:p>
            <a:pPr lvl="1"/>
            <a:r>
              <a:rPr lang="en-US" sz="1400" dirty="0"/>
              <a:t>Created logical analytical groupings: Order Date → Month, Weekday, Order Time → Order Hour, Category → Item hierarchy.</a:t>
            </a:r>
          </a:p>
          <a:p>
            <a:pPr lvl="1"/>
            <a:r>
              <a:rPr lang="en-US" sz="1400" dirty="0"/>
              <a:t>Enabled dynamic slicing by: Item Category, Meal Type, Weekday Order Number.</a:t>
            </a:r>
          </a:p>
          <a:p>
            <a:pPr lvl="1"/>
            <a:r>
              <a:rPr lang="en-US" sz="1400" dirty="0"/>
              <a:t>Ensured seamless cross-filtering across all visuals.</a:t>
            </a:r>
          </a:p>
          <a:p>
            <a:pPr marL="0" indent="0">
              <a:buNone/>
            </a:pPr>
            <a:r>
              <a:rPr lang="en-US" sz="1400" b="1" dirty="0"/>
              <a:t>Feature Engineering:</a:t>
            </a:r>
          </a:p>
          <a:p>
            <a:pPr lvl="1"/>
            <a:r>
              <a:rPr lang="en-US" sz="1400" dirty="0"/>
              <a:t>Created derived columns using </a:t>
            </a:r>
            <a:r>
              <a:rPr lang="en-US" sz="1400" b="1" dirty="0"/>
              <a:t>Excel + Power BI</a:t>
            </a:r>
            <a:r>
              <a:rPr lang="en-US" sz="1400" dirty="0"/>
              <a:t>: Order Month, Weekday Order Number (for correct weekday sorting), Meal Type classification based on order time.</a:t>
            </a:r>
          </a:p>
          <a:p>
            <a:pPr lvl="1"/>
            <a:r>
              <a:rPr lang="en-US" sz="1400" dirty="0"/>
              <a:t>Developed key DAX measures: Total Orders, Total Sales, Average Price, Average Order Value (AOV).</a:t>
            </a:r>
          </a:p>
          <a:p>
            <a:pPr marL="0" indent="0">
              <a:buNone/>
            </a:pPr>
            <a:r>
              <a:rPr lang="en-US" sz="1400" b="1" dirty="0"/>
              <a:t>Visualization Design:</a:t>
            </a:r>
          </a:p>
          <a:p>
            <a:pPr lvl="1"/>
            <a:r>
              <a:rPr lang="en-US" sz="1400" dirty="0"/>
              <a:t>Designed KPI cards for quick executive-level insights.</a:t>
            </a:r>
          </a:p>
          <a:p>
            <a:pPr lvl="1"/>
            <a:r>
              <a:rPr lang="en-US" sz="1400" dirty="0"/>
              <a:t>Optimized visual hierarchy for business storytelling and decision-making.</a:t>
            </a:r>
          </a:p>
          <a:p>
            <a:pPr marL="0" indent="0">
              <a:buNone/>
            </a:pPr>
            <a:r>
              <a:rPr lang="en-US" sz="1400" b="1" dirty="0"/>
              <a:t>Validation &amp; Formatting:</a:t>
            </a:r>
          </a:p>
          <a:p>
            <a:pPr lvl="1"/>
            <a:r>
              <a:rPr lang="en-US" sz="1400" dirty="0"/>
              <a:t>Validated slicer interactions across all visuals.</a:t>
            </a:r>
          </a:p>
          <a:p>
            <a:pPr lvl="1"/>
            <a:r>
              <a:rPr lang="en-US" sz="1400" dirty="0"/>
              <a:t>Finalized dashboard for presentation and stakeholder consumption.</a:t>
            </a:r>
          </a:p>
          <a:p>
            <a:pPr marL="0" indent="0">
              <a:buNone/>
            </a:pPr>
            <a:br>
              <a:rPr lang="en-US" sz="1400" dirty="0"/>
            </a:b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614080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9B5B7-385A-001C-9ABC-EBA78E047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36F87-DF18-5AE1-0FC7-89A1C41FF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97280"/>
          </a:xfrm>
        </p:spPr>
        <p:txBody>
          <a:bodyPr/>
          <a:lstStyle/>
          <a:p>
            <a:r>
              <a:rPr lang="en-US" dirty="0"/>
              <a:t>❓ </a:t>
            </a:r>
            <a:r>
              <a:rPr lang="en-US" b="1" dirty="0"/>
              <a:t>Problem Statement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D71D2-ABCA-6D67-B60E-962812489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72768"/>
            <a:ext cx="12192000" cy="52852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Restaurants generate large volumes of transactional data across orders, menu items, cuisines, meal times, and days of operation.</a:t>
            </a:r>
            <a:br>
              <a:rPr lang="en-US" sz="1600" dirty="0"/>
            </a:br>
            <a:r>
              <a:rPr lang="en-US" sz="1600" dirty="0"/>
              <a:t>However, without structured analysis, it becomes difficult to clearly identify:</a:t>
            </a:r>
          </a:p>
          <a:p>
            <a:pPr lvl="1"/>
            <a:r>
              <a:rPr lang="en-US" sz="1500" dirty="0"/>
              <a:t>Which cuisine categories perform best</a:t>
            </a:r>
          </a:p>
          <a:p>
            <a:pPr lvl="1"/>
            <a:r>
              <a:rPr lang="en-US" sz="1500" dirty="0"/>
              <a:t>When customers place the most orders</a:t>
            </a:r>
          </a:p>
          <a:p>
            <a:pPr lvl="1"/>
            <a:r>
              <a:rPr lang="en-US" sz="1500" dirty="0"/>
              <a:t>Which menu items drive the highest revenue</a:t>
            </a:r>
          </a:p>
          <a:p>
            <a:pPr lvl="1"/>
            <a:r>
              <a:rPr lang="en-US" sz="1500" dirty="0"/>
              <a:t>How ordering behavior changes by time and meal type</a:t>
            </a:r>
          </a:p>
          <a:p>
            <a:pPr marL="0" indent="0">
              <a:buNone/>
            </a:pPr>
            <a:r>
              <a:rPr lang="en-US" sz="1600" dirty="0"/>
              <a:t>This project analyzes </a:t>
            </a:r>
            <a:r>
              <a:rPr lang="en-US" sz="1600" b="1" dirty="0"/>
              <a:t>Spice Odyssey Restaurant &amp; Co.’s sales data</a:t>
            </a:r>
            <a:r>
              <a:rPr lang="en-US" sz="1600" dirty="0"/>
              <a:t> to uncover actionable insights that support </a:t>
            </a:r>
            <a:r>
              <a:rPr lang="en-US" sz="1600" b="1" dirty="0"/>
              <a:t>menu optimization, operational planning, and revenue growth</a:t>
            </a:r>
            <a:r>
              <a:rPr lang="en-US" sz="1600" dirty="0"/>
              <a:t>.</a:t>
            </a:r>
          </a:p>
          <a:p>
            <a:pPr marL="0" indent="0">
              <a:buNone/>
            </a:pPr>
            <a:endParaRPr lang="en-US" sz="1500" b="1" dirty="0"/>
          </a:p>
          <a:p>
            <a:pPr marL="0" indent="0">
              <a:buNone/>
            </a:pPr>
            <a:r>
              <a:rPr lang="en-US" sz="1500" b="1" dirty="0"/>
              <a:t>Key Questions:</a:t>
            </a:r>
            <a:endParaRPr lang="en-US" sz="1500" dirty="0"/>
          </a:p>
          <a:p>
            <a:pPr lvl="1"/>
            <a:r>
              <a:rPr lang="en-US" sz="1500" dirty="0"/>
              <a:t>Which cuisine category receives the highest number of orders?</a:t>
            </a:r>
          </a:p>
          <a:p>
            <a:pPr lvl="1"/>
            <a:r>
              <a:rPr lang="en-US" sz="1500" dirty="0"/>
              <a:t>How do orders and sales vary across weekdays and time?</a:t>
            </a:r>
          </a:p>
          <a:p>
            <a:pPr lvl="1"/>
            <a:r>
              <a:rPr lang="en-US" sz="1500" dirty="0"/>
              <a:t>Which cuisines and items drive the most revenue?</a:t>
            </a:r>
          </a:p>
          <a:p>
            <a:pPr lvl="1"/>
            <a:r>
              <a:rPr lang="en-US" sz="1500" dirty="0"/>
              <a:t>What patterns define high-value customer orders?</a:t>
            </a:r>
          </a:p>
        </p:txBody>
      </p:sp>
    </p:spTree>
    <p:extLst>
      <p:ext uri="{BB962C8B-B14F-4D97-AF65-F5344CB8AC3E}">
        <p14:creationId xmlns:p14="http://schemas.microsoft.com/office/powerpoint/2010/main" val="1031171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7E577-2B86-C564-14EB-D400F7E53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1737A-7469-A45C-89DC-D3ADD9657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71015"/>
          </a:xfrm>
        </p:spPr>
        <p:txBody>
          <a:bodyPr/>
          <a:lstStyle/>
          <a:p>
            <a:r>
              <a:rPr lang="en-US" dirty="0"/>
              <a:t>💡 </a:t>
            </a:r>
            <a:r>
              <a:rPr lang="en-US" b="1" dirty="0"/>
              <a:t>Key Insights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4CCC3-91A6-23AA-28FD-3DC132AF9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93976"/>
            <a:ext cx="12192000" cy="47640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Top Findings:</a:t>
            </a:r>
          </a:p>
          <a:p>
            <a:pPr lvl="1"/>
            <a:r>
              <a:rPr lang="en-US" sz="1500" b="1" dirty="0"/>
              <a:t>Asian cuisine</a:t>
            </a:r>
            <a:r>
              <a:rPr lang="en-US" sz="1500" dirty="0"/>
              <a:t> is the most ordered category.</a:t>
            </a:r>
          </a:p>
          <a:p>
            <a:pPr lvl="1"/>
            <a:r>
              <a:rPr lang="en-US" sz="1500" b="1" dirty="0"/>
              <a:t>Dinner time</a:t>
            </a:r>
            <a:r>
              <a:rPr lang="en-US" sz="1500" dirty="0"/>
              <a:t> contributes the highest share of orders (~60%).</a:t>
            </a:r>
          </a:p>
          <a:p>
            <a:pPr lvl="1"/>
            <a:r>
              <a:rPr lang="en-US" sz="1500" b="1" dirty="0"/>
              <a:t>Lunch and dinner hours (12 PM &amp; 5–7 PM)</a:t>
            </a:r>
            <a:r>
              <a:rPr lang="en-US" sz="1500" dirty="0"/>
              <a:t> generate peak revenue.</a:t>
            </a:r>
          </a:p>
          <a:p>
            <a:pPr lvl="1"/>
            <a:r>
              <a:rPr lang="en-US" sz="1500" dirty="0"/>
              <a:t>Premium items like </a:t>
            </a:r>
            <a:r>
              <a:rPr lang="en-US" sz="1500" b="1" dirty="0"/>
              <a:t>Tofu Pad Thai and Steak Torta</a:t>
            </a:r>
            <a:r>
              <a:rPr lang="en-US" sz="1500" dirty="0"/>
              <a:t> drive higher sales.</a:t>
            </a:r>
          </a:p>
          <a:p>
            <a:pPr marL="0" indent="0">
              <a:buNone/>
            </a:pPr>
            <a:endParaRPr lang="en-US" sz="1500" b="1" dirty="0"/>
          </a:p>
          <a:p>
            <a:pPr marL="0" indent="0">
              <a:buNone/>
            </a:pPr>
            <a:r>
              <a:rPr lang="en-US" sz="1500" b="1" dirty="0"/>
              <a:t>Supporting Metrics:</a:t>
            </a:r>
          </a:p>
          <a:p>
            <a:pPr lvl="1"/>
            <a:r>
              <a:rPr lang="en-US" sz="1500" dirty="0"/>
              <a:t>Asian category: ~2.6K orders</a:t>
            </a:r>
          </a:p>
          <a:p>
            <a:pPr lvl="1"/>
            <a:r>
              <a:rPr lang="en-US" sz="1500" dirty="0"/>
              <a:t>Dinner orders: ~60.6% of total</a:t>
            </a:r>
          </a:p>
          <a:p>
            <a:pPr lvl="1"/>
            <a:r>
              <a:rPr lang="en-US" sz="1500" dirty="0"/>
              <a:t>Peak weekday demand: </a:t>
            </a:r>
            <a:r>
              <a:rPr lang="en-US" sz="1500" b="1" dirty="0"/>
              <a:t>Monday &amp; Friday</a:t>
            </a:r>
            <a:endParaRPr lang="en-US" sz="1500" dirty="0"/>
          </a:p>
          <a:p>
            <a:pPr lvl="1"/>
            <a:r>
              <a:rPr lang="en-US" sz="1500" dirty="0"/>
              <a:t>Highest-selling item: </a:t>
            </a:r>
            <a:r>
              <a:rPr lang="en-US" sz="1500" b="1" dirty="0"/>
              <a:t>Tofu Pad Thai (~8.1K sales)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732127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881B5-C578-E115-D4EE-3B5B5CC69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80159"/>
          </a:xfrm>
        </p:spPr>
        <p:txBody>
          <a:bodyPr/>
          <a:lstStyle/>
          <a:p>
            <a:r>
              <a:rPr lang="en-US" dirty="0"/>
              <a:t>📍</a:t>
            </a:r>
            <a:r>
              <a:rPr lang="en-US" b="1" dirty="0"/>
              <a:t>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3F1E8-B7D8-C1FF-1F55-3E5F6C36A6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72184"/>
            <a:ext cx="12192000" cy="53858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Summary:</a:t>
            </a:r>
          </a:p>
          <a:p>
            <a:pPr lvl="1"/>
            <a:r>
              <a:rPr lang="en-US" sz="1500" dirty="0"/>
              <a:t>The analysis reveals that </a:t>
            </a:r>
            <a:r>
              <a:rPr lang="en-US" sz="1500" b="1" dirty="0"/>
              <a:t>customer demand at Spice Odyssey Restaurant &amp; Co. is highly influenced by cuisine type, meal timing, and ordering patterns across the week</a:t>
            </a:r>
            <a:r>
              <a:rPr lang="en-US" sz="1500" dirty="0"/>
              <a:t>. Certain cuisines consistently outperform others in both order volume and revenue contribution, indicating clear customer preferences.</a:t>
            </a:r>
          </a:p>
          <a:p>
            <a:pPr lvl="1"/>
            <a:endParaRPr lang="en-US" sz="1500" b="1" dirty="0"/>
          </a:p>
          <a:p>
            <a:pPr lvl="1"/>
            <a:r>
              <a:rPr lang="en-US" sz="1500" b="1" dirty="0"/>
              <a:t>Asian and Mexican cuisines emerge as the strongest growth drivers</a:t>
            </a:r>
            <a:r>
              <a:rPr lang="en-US" sz="1500" dirty="0"/>
              <a:t>, leading in total orders and maintaining competitive average prices. These categories present significant opportunities for </a:t>
            </a:r>
            <a:r>
              <a:rPr lang="en-US" sz="1500" b="1" dirty="0"/>
              <a:t>menu expansion, promotional focus, and inventory prioritization</a:t>
            </a:r>
            <a:r>
              <a:rPr lang="en-US" sz="1500" dirty="0"/>
              <a:t>.</a:t>
            </a:r>
          </a:p>
          <a:p>
            <a:pPr lvl="1"/>
            <a:endParaRPr lang="en-US" sz="1500" dirty="0"/>
          </a:p>
          <a:p>
            <a:pPr lvl="1"/>
            <a:r>
              <a:rPr lang="en-US" sz="1500" dirty="0"/>
              <a:t>High-value orders are primarily concentrated during </a:t>
            </a:r>
            <a:r>
              <a:rPr lang="en-US" sz="1500" b="1" dirty="0"/>
              <a:t>peak meal hours—especially lunch and dinner periods</a:t>
            </a:r>
            <a:r>
              <a:rPr lang="en-US" sz="1500" dirty="0"/>
              <a:t>—and are associated with </a:t>
            </a:r>
            <a:r>
              <a:rPr lang="en-US" sz="1500" b="1" dirty="0"/>
              <a:t>premium or popular menu items</a:t>
            </a:r>
            <a:r>
              <a:rPr lang="en-US" sz="1500" dirty="0"/>
              <a:t>. This highlights the importance of aligning pricing strategies, staffing, and promotional efforts with high-traffic time windows.</a:t>
            </a:r>
          </a:p>
          <a:p>
            <a:pPr lvl="1"/>
            <a:endParaRPr lang="en-US" sz="1500" dirty="0"/>
          </a:p>
          <a:p>
            <a:pPr lvl="1"/>
            <a:r>
              <a:rPr lang="en-US" sz="1500" dirty="0"/>
              <a:t>The interactive Power BI dashboard provides a </a:t>
            </a:r>
            <a:r>
              <a:rPr lang="en-US" sz="1500" b="1" dirty="0"/>
              <a:t>centralized, real-time view of restaurant performance</a:t>
            </a:r>
            <a:r>
              <a:rPr lang="en-US" sz="1500" dirty="0"/>
              <a:t>, enabling management to:</a:t>
            </a:r>
          </a:p>
          <a:p>
            <a:pPr lvl="2"/>
            <a:r>
              <a:rPr lang="en-US" sz="1500" dirty="0"/>
              <a:t>Monitor sales and order trends dynamically</a:t>
            </a:r>
          </a:p>
          <a:p>
            <a:pPr lvl="2"/>
            <a:r>
              <a:rPr lang="en-US" sz="1500" dirty="0"/>
              <a:t>Identify high-performing cuisines and items</a:t>
            </a:r>
          </a:p>
          <a:p>
            <a:pPr lvl="2"/>
            <a:r>
              <a:rPr lang="en-US" sz="1500" dirty="0"/>
              <a:t>Optimize menu strategy and operational planning</a:t>
            </a:r>
          </a:p>
          <a:p>
            <a:pPr lvl="2"/>
            <a:r>
              <a:rPr lang="en-US" sz="1500" dirty="0"/>
              <a:t>Make faster, data-driven business decisions</a:t>
            </a:r>
          </a:p>
          <a:p>
            <a:pPr marL="0" indent="0">
              <a:buNone/>
            </a:pPr>
            <a:r>
              <a:rPr lang="en-US" sz="1500" dirty="0"/>
              <a:t>Overall, this project demonstrates how </a:t>
            </a:r>
            <a:r>
              <a:rPr lang="en-US" sz="1500" b="1" dirty="0"/>
              <a:t>structured sales analytics can directly support revenue growth, customer satisfaction, and operational efficiency</a:t>
            </a:r>
            <a:r>
              <a:rPr lang="en-US" sz="1500" dirty="0"/>
              <a:t> in a restaurant business.</a:t>
            </a:r>
          </a:p>
        </p:txBody>
      </p:sp>
    </p:spTree>
    <p:extLst>
      <p:ext uri="{BB962C8B-B14F-4D97-AF65-F5344CB8AC3E}">
        <p14:creationId xmlns:p14="http://schemas.microsoft.com/office/powerpoint/2010/main" val="2930939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4EE8F-1C7D-473A-67DC-0702E54E3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17CD5-1967-34C2-0596-52403C529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71015"/>
          </a:xfrm>
        </p:spPr>
        <p:txBody>
          <a:bodyPr>
            <a:normAutofit/>
          </a:bodyPr>
          <a:lstStyle/>
          <a:p>
            <a:r>
              <a:rPr lang="en-US" sz="4000" b="1" dirty="0"/>
              <a:t>🖥️ Dashboard Overview – Sales Performance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1226C6E-0F9D-CF9C-6EE4-597A60A838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53312"/>
            <a:ext cx="12192000" cy="5504687"/>
          </a:xfrm>
        </p:spPr>
      </p:pic>
    </p:spTree>
    <p:extLst>
      <p:ext uri="{BB962C8B-B14F-4D97-AF65-F5344CB8AC3E}">
        <p14:creationId xmlns:p14="http://schemas.microsoft.com/office/powerpoint/2010/main" val="10299890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14F3A-2AE5-5D64-E967-D92B175DD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6C242B65-B659-DB4E-7B32-9441A85C9C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236235"/>
            <a:ext cx="12192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✅ Business Impact &amp; Use Cases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27C3C13-8163-D6BA-A4EE-8F17076CB35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" y="1651308"/>
            <a:ext cx="12088367" cy="43293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/>
            <a:r>
              <a:rPr lang="en-US" sz="1500" dirty="0"/>
              <a:t>By identifying </a:t>
            </a:r>
            <a:r>
              <a:rPr lang="en-US" sz="1500" b="1" dirty="0"/>
              <a:t>top-performing cuisines and high-value menu items</a:t>
            </a:r>
            <a:r>
              <a:rPr lang="en-US" sz="1500" dirty="0"/>
              <a:t>, the dashboard supports </a:t>
            </a:r>
            <a:r>
              <a:rPr lang="en-US" sz="1500" b="1" dirty="0"/>
              <a:t>revenue optimization through informed pricing, bundling, and promotional strategies</a:t>
            </a:r>
            <a:r>
              <a:rPr lang="en-US" sz="1500" dirty="0"/>
              <a:t>. Category-level demand insights highlight strong growth opportunities in </a:t>
            </a:r>
            <a:r>
              <a:rPr lang="en-US" sz="1500" b="1" dirty="0"/>
              <a:t>Asian and Mexican cuisines</a:t>
            </a:r>
            <a:r>
              <a:rPr lang="en-US" sz="1500" dirty="0"/>
              <a:t>, guiding menu expansion and product development decisions.</a:t>
            </a:r>
          </a:p>
          <a:p>
            <a:pPr lvl="1"/>
            <a:endParaRPr lang="en-US" sz="1500" dirty="0"/>
          </a:p>
          <a:p>
            <a:pPr lvl="1"/>
            <a:r>
              <a:rPr lang="en-US" sz="1500" dirty="0"/>
              <a:t>Operational efficiency is enhanced through analysis of </a:t>
            </a:r>
            <a:r>
              <a:rPr lang="en-US" sz="1500" b="1" dirty="0"/>
              <a:t>peak ordering hours and meal-type trends</a:t>
            </a:r>
            <a:r>
              <a:rPr lang="en-US" sz="1500" dirty="0"/>
              <a:t>, enabling improved </a:t>
            </a:r>
            <a:r>
              <a:rPr lang="en-US" sz="1500" b="1" dirty="0"/>
              <a:t>staff scheduling, inventory planning, and kitchen workload management</a:t>
            </a:r>
            <a:r>
              <a:rPr lang="en-US" sz="1500" dirty="0"/>
              <a:t>. Marketing teams can leverage </a:t>
            </a:r>
            <a:r>
              <a:rPr lang="en-US" sz="1500" b="1" dirty="0"/>
              <a:t>weekday and time-based demand patterns</a:t>
            </a:r>
            <a:r>
              <a:rPr lang="en-US" sz="1500" dirty="0"/>
              <a:t> to design targeted campaigns such as lunch offers, dinner combos, and weekday-specific promotions.</a:t>
            </a:r>
          </a:p>
          <a:p>
            <a:pPr lvl="1"/>
            <a:endParaRPr lang="en-US" sz="1500" dirty="0"/>
          </a:p>
          <a:p>
            <a:pPr lvl="1"/>
            <a:r>
              <a:rPr lang="en-US" sz="1500" dirty="0"/>
              <a:t>The centralized </a:t>
            </a:r>
            <a:r>
              <a:rPr lang="en-US" sz="1500" b="1" dirty="0"/>
              <a:t>Power BI dashboard replaces manual reporting</a:t>
            </a:r>
            <a:r>
              <a:rPr lang="en-US" sz="1500" dirty="0"/>
              <a:t>, allowing leadership to track </a:t>
            </a:r>
            <a:r>
              <a:rPr lang="en-US" sz="1500" b="1" dirty="0"/>
              <a:t>daily, weekly, and monthly performance in real time</a:t>
            </a:r>
            <a:r>
              <a:rPr lang="en-US" sz="1500" dirty="0"/>
              <a:t>. This ensures faster insights, consistent reporting, and better strategic planning across the organization.</a:t>
            </a:r>
          </a:p>
          <a:p>
            <a:pPr lvl="1"/>
            <a:endParaRPr lang="en-US" sz="1500" b="1" dirty="0"/>
          </a:p>
          <a:p>
            <a:pPr lvl="1"/>
            <a:r>
              <a:rPr lang="en-US" sz="1500" b="1" dirty="0"/>
              <a:t>Primary Use Cases</a:t>
            </a:r>
          </a:p>
          <a:p>
            <a:pPr lvl="2"/>
            <a:r>
              <a:rPr lang="en-US" sz="1500" b="1" dirty="0"/>
              <a:t>Restaurant Management:</a:t>
            </a:r>
            <a:r>
              <a:rPr lang="en-US" sz="1500" dirty="0"/>
              <a:t> Monitor performance trends and optimize operations to improve profitability</a:t>
            </a:r>
          </a:p>
          <a:p>
            <a:pPr lvl="2"/>
            <a:r>
              <a:rPr lang="en-US" sz="1500" b="1" dirty="0"/>
              <a:t>Menu &amp; Product Teams:</a:t>
            </a:r>
            <a:r>
              <a:rPr lang="en-US" sz="1500" dirty="0"/>
              <a:t> Identify high-demand and underperforming items to guide menu strategy</a:t>
            </a:r>
          </a:p>
          <a:p>
            <a:pPr lvl="2"/>
            <a:r>
              <a:rPr lang="en-US" sz="1500" b="1" dirty="0"/>
              <a:t>Marketing Teams:</a:t>
            </a:r>
            <a:r>
              <a:rPr lang="en-US" sz="1500" dirty="0"/>
              <a:t> Launch targeted, time-based promotional campaigns</a:t>
            </a:r>
          </a:p>
          <a:p>
            <a:pPr lvl="2"/>
            <a:r>
              <a:rPr lang="en-US" sz="1500" b="1" dirty="0"/>
              <a:t>Operations &amp; Supply Chain:</a:t>
            </a:r>
            <a:r>
              <a:rPr lang="en-US" sz="1500" dirty="0"/>
              <a:t> Align staffing and ingredient procurement with demand patterns</a:t>
            </a:r>
          </a:p>
          <a:p>
            <a:pPr lvl="2"/>
            <a:r>
              <a:rPr lang="en-US" sz="1500" b="1" dirty="0"/>
              <a:t>Leadership &amp; Stakeholders:</a:t>
            </a:r>
            <a:r>
              <a:rPr lang="en-US" sz="1500" dirty="0"/>
              <a:t> Drive strategic decisions using reliable KPIs and visual insights</a:t>
            </a:r>
          </a:p>
        </p:txBody>
      </p:sp>
    </p:spTree>
    <p:extLst>
      <p:ext uri="{BB962C8B-B14F-4D97-AF65-F5344CB8AC3E}">
        <p14:creationId xmlns:p14="http://schemas.microsoft.com/office/powerpoint/2010/main" val="32865080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854EA-C6C0-AD7A-DFE4-7B107D73F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2143"/>
          </a:xfrm>
        </p:spPr>
        <p:txBody>
          <a:bodyPr/>
          <a:lstStyle/>
          <a:p>
            <a:r>
              <a:rPr lang="en-US" dirty="0"/>
              <a:t>🙏 </a:t>
            </a:r>
            <a:r>
              <a:rPr lang="en-US" b="1" dirty="0"/>
              <a:t>Acknowledgement &amp; Contact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7620C-3B01-BD8D-C488-C2363A9347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08760"/>
            <a:ext cx="12192000" cy="5349239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Project Analyst: </a:t>
            </a:r>
            <a:r>
              <a:rPr lang="en-US" dirty="0"/>
              <a:t>Anik Chakraborty</a:t>
            </a:r>
            <a:br>
              <a:rPr lang="en-US" dirty="0"/>
            </a:br>
            <a:r>
              <a:rPr lang="en-US" dirty="0"/>
              <a:t>		📧 Email: anikc1710@gmail.com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Special Thanks To:</a:t>
            </a:r>
            <a:endParaRPr lang="en-US" dirty="0"/>
          </a:p>
          <a:p>
            <a:pPr lvl="1"/>
            <a:r>
              <a:rPr lang="en-US" b="1" dirty="0"/>
              <a:t>Coding Ninjas</a:t>
            </a:r>
            <a:r>
              <a:rPr lang="en-US" dirty="0"/>
              <a:t> – for project framework and guidance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Connect:</a:t>
            </a:r>
            <a:br>
              <a:rPr lang="en-US" dirty="0"/>
            </a:br>
            <a:r>
              <a:rPr lang="en-US" dirty="0">
                <a:hlinkClick r:id="rId2"/>
              </a:rPr>
              <a:t>🔗 GitHub</a:t>
            </a:r>
            <a:r>
              <a:rPr lang="en-US" dirty="0"/>
              <a:t> | </a:t>
            </a:r>
            <a:r>
              <a:rPr lang="en-US" dirty="0">
                <a:hlinkClick r:id="rId3"/>
              </a:rPr>
              <a:t>🔗 LinkedIn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9270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2DE7D-CAB5-CBBB-05B8-C656AA0A0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7999"/>
          </a:xfrm>
        </p:spPr>
        <p:txBody>
          <a:bodyPr>
            <a:normAutofit/>
          </a:bodyPr>
          <a:lstStyle/>
          <a:p>
            <a:pPr algn="ctr"/>
            <a:r>
              <a:rPr lang="en-US" sz="9600" b="1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7349951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6364</TotalTime>
  <Words>1319</Words>
  <Application>Microsoft Office PowerPoint</Application>
  <PresentationFormat>Widescreen</PresentationFormat>
  <Paragraphs>145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Spice Odyssey Restaurant &amp; Co. Sales Performance Analysis</vt:lpstr>
      <vt:lpstr>🎯 Objective</vt:lpstr>
      <vt:lpstr>📘 Project Overview</vt:lpstr>
      <vt:lpstr>🗂️ Data Overview &amp; Schema</vt:lpstr>
      <vt:lpstr>💻 Tech Stack</vt:lpstr>
      <vt:lpstr>📈 Methodology &amp; Analysis</vt:lpstr>
      <vt:lpstr>❓ Problem Statement</vt:lpstr>
      <vt:lpstr>💡 Key Insights</vt:lpstr>
      <vt:lpstr>📍Conclusion</vt:lpstr>
      <vt:lpstr>🖥️ Dashboard Overview – Sales Performance </vt:lpstr>
      <vt:lpstr>✅ Business Impact &amp; Use Cases</vt:lpstr>
      <vt:lpstr>🙏 Acknowledgement &amp; Contact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Anik Chakraborty</dc:creator>
  <cp:lastModifiedBy>Anik Chakraborty</cp:lastModifiedBy>
  <cp:revision>51</cp:revision>
  <dcterms:created xsi:type="dcterms:W3CDTF">2025-10-10T07:10:37Z</dcterms:created>
  <dcterms:modified xsi:type="dcterms:W3CDTF">2026-01-03T04:56:35Z</dcterms:modified>
</cp:coreProperties>
</file>